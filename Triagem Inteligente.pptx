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Noto Sans Symbols"/>
      <p:regular r:id="rId16"/>
      <p:bold r:id="rId17"/>
    </p:embeddedFont>
    <p:embeddedFont>
      <p:font typeface="Poppins SemiBol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PoppinsSemiBold-boldItalic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NotoSansSymbols-bold.fntdata"/><Relationship Id="rId16" Type="http://schemas.openxmlformats.org/officeDocument/2006/relationships/font" Target="fonts/NotoSansSymbols-regular.fntdata"/><Relationship Id="rId5" Type="http://schemas.openxmlformats.org/officeDocument/2006/relationships/slide" Target="slides/slide1.xml"/><Relationship Id="rId19" Type="http://schemas.openxmlformats.org/officeDocument/2006/relationships/font" Target="fonts/PoppinsSemiBold-bold.fntdata"/><Relationship Id="rId6" Type="http://schemas.openxmlformats.org/officeDocument/2006/relationships/slide" Target="slides/slide2.xml"/><Relationship Id="rId18" Type="http://schemas.openxmlformats.org/officeDocument/2006/relationships/font" Target="fonts/Poppins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3543840" y="1530000"/>
            <a:ext cx="4831560" cy="1878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720000" y="59760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3"/>
          <p:cNvSpPr/>
          <p:nvPr/>
        </p:nvSpPr>
        <p:spPr>
          <a:xfrm>
            <a:off x="4320" y="5400"/>
            <a:ext cx="446040" cy="44604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12" name="Google Shape;12;p3"/>
          <p:cNvCxnSpPr/>
          <p:nvPr/>
        </p:nvCxnSpPr>
        <p:spPr>
          <a:xfrm>
            <a:off x="394920" y="451080"/>
            <a:ext cx="882540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3"/>
          <p:cNvGrpSpPr/>
          <p:nvPr/>
        </p:nvGrpSpPr>
        <p:grpSpPr>
          <a:xfrm>
            <a:off x="8511480" y="451440"/>
            <a:ext cx="1256040" cy="1256400"/>
            <a:chOff x="8511480" y="451440"/>
            <a:chExt cx="1256040" cy="1256400"/>
          </a:xfrm>
        </p:grpSpPr>
        <p:cxnSp>
          <p:nvCxnSpPr>
            <p:cNvPr id="14" name="Google Shape;14;p3"/>
            <p:cNvCxnSpPr/>
            <p:nvPr/>
          </p:nvCxnSpPr>
          <p:spPr>
            <a:xfrm>
              <a:off x="9139320" y="451440"/>
              <a:ext cx="360" cy="12564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3"/>
            <p:cNvCxnSpPr/>
            <p:nvPr/>
          </p:nvCxnSpPr>
          <p:spPr>
            <a:xfrm flipH="1">
              <a:off x="8695440" y="635400"/>
              <a:ext cx="888120" cy="8884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3"/>
            <p:cNvCxnSpPr/>
            <p:nvPr/>
          </p:nvCxnSpPr>
          <p:spPr>
            <a:xfrm rot="10800000">
              <a:off x="8695440" y="635400"/>
              <a:ext cx="888120" cy="8884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3"/>
            <p:cNvCxnSpPr/>
            <p:nvPr/>
          </p:nvCxnSpPr>
          <p:spPr>
            <a:xfrm>
              <a:off x="8511480" y="1079280"/>
              <a:ext cx="1256040" cy="36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" name="Google Shape;18;p3"/>
          <p:cNvCxnSpPr/>
          <p:nvPr/>
        </p:nvCxnSpPr>
        <p:spPr>
          <a:xfrm>
            <a:off x="450720" y="304560"/>
            <a:ext cx="360" cy="493704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54280" y="501840"/>
            <a:ext cx="4739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898560" y="3611880"/>
            <a:ext cx="471708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3324960" y="-4680"/>
            <a:ext cx="360" cy="51969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5"/>
          <p:cNvCxnSpPr/>
          <p:nvPr/>
        </p:nvCxnSpPr>
        <p:spPr>
          <a:xfrm>
            <a:off x="3324960" y="348588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5"/>
          <p:cNvCxnSpPr/>
          <p:nvPr/>
        </p:nvCxnSpPr>
        <p:spPr>
          <a:xfrm>
            <a:off x="3324960" y="127620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3324960" y="409572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/>
          <p:nvPr/>
        </p:nvSpPr>
        <p:spPr>
          <a:xfrm>
            <a:off x="3543480" y="1533600"/>
            <a:ext cx="482868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Triagem Inteligente</a:t>
            </a:r>
            <a:endParaRPr b="0" i="0" sz="5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3543480" y="3486240"/>
            <a:ext cx="5200200" cy="60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Assistente pré-reunião com Open Finance e IA 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00" y="920213"/>
            <a:ext cx="3175125" cy="31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476280" y="457880"/>
            <a:ext cx="8191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Dores do </a:t>
            </a:r>
            <a:r>
              <a:rPr b="1" lang="en-US" sz="204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Assessor</a:t>
            </a:r>
            <a:endParaRPr b="0" i="0" sz="20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3853100" y="819375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Carga Operacional elevada: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alta demanda clientes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068675" y="2276325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Reunião sem um briefing claro: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causando uma reunião massante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603774" y="3733300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Aconselhamento de alto valor: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acabando deixando sem valor suficiente a consulta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Monochrome graph of bars and lines that can be used for the decline of economics, mathematics, etc. / illustration material (vector illustration) (Fornecido por Getty Images)" id="42" name="Google Shape;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75" y="1019865"/>
            <a:ext cx="2609137" cy="2010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6"/>
          <p:cNvCxnSpPr>
            <a:endCxn id="41" idx="3"/>
          </p:cNvCxnSpPr>
          <p:nvPr/>
        </p:nvCxnSpPr>
        <p:spPr>
          <a:xfrm flipH="1">
            <a:off x="4681375" y="3695800"/>
            <a:ext cx="1755600" cy="6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476280" y="488680"/>
            <a:ext cx="8191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Triagem Inteligente </a:t>
            </a:r>
            <a:r>
              <a:rPr b="1" i="0" lang="en-US" sz="204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Pré-Reunião</a:t>
            </a:r>
            <a:endParaRPr b="0" i="0" sz="20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476274" y="1005600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Assistente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ia open Finance: atuando antes de falar com um assessor real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4970674" y="2131000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coleta de dados para ter uma ideia: perguntas para poder ter um panorama do caso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554274" y="3746750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Agenda um 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horário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com assessor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Apos briefing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2" name="Google Shape;52;p7"/>
          <p:cNvCxnSpPr/>
          <p:nvPr/>
        </p:nvCxnSpPr>
        <p:spPr>
          <a:xfrm>
            <a:off x="4553875" y="1560600"/>
            <a:ext cx="1097700" cy="47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" name="Google Shape;53;p7"/>
          <p:cNvCxnSpPr/>
          <p:nvPr/>
        </p:nvCxnSpPr>
        <p:spPr>
          <a:xfrm flipH="1">
            <a:off x="4897175" y="3524000"/>
            <a:ext cx="1444200" cy="6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476280" y="1866960"/>
            <a:ext cx="1914000" cy="280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2523960" y="1866960"/>
            <a:ext cx="1914000" cy="280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4572000" y="1866960"/>
            <a:ext cx="1914000" cy="280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6620040" y="1866960"/>
            <a:ext cx="1914000" cy="280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476393" y="457680"/>
            <a:ext cx="8191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1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Fluxo Cliente</a:t>
            </a:r>
            <a:endParaRPr b="0" i="0" sz="221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476030" y="1200000"/>
            <a:ext cx="191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666720" y="2133720"/>
            <a:ext cx="15333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Mensagem Inicial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666720" y="2666880"/>
            <a:ext cx="15333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Conversa em linguagem natural que desperta curiosidade sobre dados e serviços.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2523960" y="1238400"/>
            <a:ext cx="191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714760" y="2133720"/>
            <a:ext cx="15333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Autorização Transparente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714760" y="2666880"/>
            <a:ext cx="15333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Simulação de consentimento, visível e comprovável, sem ambiguidades.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4572000" y="1238400"/>
            <a:ext cx="191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4762440" y="2133720"/>
            <a:ext cx="15333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Perguntas Curtas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762440" y="2666880"/>
            <a:ext cx="15333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Perguntas objetivas para mapear objetivos e dúvidas do cliente.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6620040" y="1238400"/>
            <a:ext cx="191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810480" y="2133720"/>
            <a:ext cx="15333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Horários Sugeridos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6810480" y="2666880"/>
            <a:ext cx="1533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Sugestão de horários com confirmação automática.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2000160" y="2104920"/>
            <a:ext cx="114120" cy="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3638520" y="2104920"/>
            <a:ext cx="114120" cy="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5276880" y="2104920"/>
            <a:ext cx="114120" cy="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6915240" y="2104920"/>
            <a:ext cx="114120" cy="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476280" y="2000160"/>
            <a:ext cx="1523520" cy="20916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1238400" y="2209680"/>
            <a:ext cx="9000" cy="32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114640" y="2000160"/>
            <a:ext cx="1523520" cy="20916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76400" y="2209680"/>
            <a:ext cx="9000" cy="32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3753000" y="2000160"/>
            <a:ext cx="1523520" cy="20916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4514760" y="2209680"/>
            <a:ext cx="9000" cy="32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5391000" y="2000160"/>
            <a:ext cx="1523520" cy="20916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6153120" y="2209680"/>
            <a:ext cx="9000" cy="32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7029360" y="2000160"/>
            <a:ext cx="1523520" cy="20916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7791480" y="2209680"/>
            <a:ext cx="9000" cy="32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76468" y="504080"/>
            <a:ext cx="8191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1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One-Pager Rápido</a:t>
            </a:r>
            <a:endParaRPr b="0" i="0" sz="221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476280" y="1219320"/>
            <a:ext cx="1523520" cy="58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Recepção do Briefing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476280" y="2619360"/>
            <a:ext cx="152352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Dores prioritárias capturadas e briefing convertido em itens-chave.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2114640" y="1219320"/>
            <a:ext cx="1523520" cy="58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Consolidação de Ativos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2114640" y="2619360"/>
            <a:ext cx="152352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Ativos por instituição consolidados via dados Open Finance.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3753000" y="1219320"/>
            <a:ext cx="1523520" cy="58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Patrimônio fora da casa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3753000" y="2619360"/>
            <a:ext cx="152352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Percentual do patrimônio fora da casa destacado para decisão.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5391000" y="1219320"/>
            <a:ext cx="152352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Caixa Ocioso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5391000" y="2619360"/>
            <a:ext cx="152352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 de caixa ocioso para foco de triagem.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7029360" y="1219320"/>
            <a:ext cx="1523520" cy="58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Alertas de Risco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7029360" y="2619360"/>
            <a:ext cx="152352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Exposição ao FGC e liquidez subótima sinalizados automaticamente.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476280" y="504055"/>
            <a:ext cx="8191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Limites do Bot</a:t>
            </a:r>
            <a:endParaRPr b="0" i="0" sz="20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561349" y="928625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Bot Não 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Substituirá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o assessor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917874" y="2128200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bot auxilia apenas a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ter um resumo da situação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40275" y="3574200"/>
            <a:ext cx="4077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Menos tempo gasto com ambos os lado, mais 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fácil</a:t>
            </a:r>
            <a:r>
              <a:rPr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evolução</a:t>
            </a:r>
            <a:endParaRPr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112" name="Google Shape;112;p10"/>
          <p:cNvCxnSpPr/>
          <p:nvPr/>
        </p:nvCxnSpPr>
        <p:spPr>
          <a:xfrm>
            <a:off x="4702500" y="1402500"/>
            <a:ext cx="702900" cy="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0"/>
          <p:cNvCxnSpPr/>
          <p:nvPr/>
        </p:nvCxnSpPr>
        <p:spPr>
          <a:xfrm flipH="1">
            <a:off x="5112575" y="3572725"/>
            <a:ext cx="1001100" cy="4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Partners shake hands, confirm decision, support each other (Fornecido por Getty Images)" id="114" name="Google Shape;11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875" y="3574203"/>
            <a:ext cx="2111375" cy="14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/>
          <p:nvPr>
            <p:ph type="title"/>
          </p:nvPr>
        </p:nvSpPr>
        <p:spPr>
          <a:xfrm>
            <a:off x="0" y="504725"/>
            <a:ext cx="59784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Poppins SemiBold"/>
              <a:buNone/>
            </a:pPr>
            <a:r>
              <a:rPr b="1" lang="en-US" sz="8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Obrigado</a:t>
            </a:r>
            <a:r>
              <a:rPr b="1" lang="en-US" sz="8600" u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!</a:t>
            </a:r>
            <a:endParaRPr b="0" sz="8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 txBox="1"/>
          <p:nvPr>
            <p:ph idx="1" type="subTitle"/>
          </p:nvPr>
        </p:nvSpPr>
        <p:spPr>
          <a:xfrm>
            <a:off x="857160" y="1914480"/>
            <a:ext cx="474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Duvidas?</a:t>
            </a:r>
            <a:endParaRPr b="0" i="0" sz="2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857160" y="4124160"/>
            <a:ext cx="4743000" cy="25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70823075" spcFirstLastPara="1" rIns="87082307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keep this slide for attribution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2" name="Google Shape;122;p11"/>
          <p:cNvGrpSpPr/>
          <p:nvPr/>
        </p:nvGrpSpPr>
        <p:grpSpPr>
          <a:xfrm>
            <a:off x="5874120" y="195120"/>
            <a:ext cx="3316680" cy="3316680"/>
            <a:chOff x="5874120" y="195120"/>
            <a:chExt cx="3316680" cy="3316680"/>
          </a:xfrm>
        </p:grpSpPr>
        <p:cxnSp>
          <p:nvCxnSpPr>
            <p:cNvPr id="123" name="Google Shape;123;p11"/>
            <p:cNvCxnSpPr/>
            <p:nvPr/>
          </p:nvCxnSpPr>
          <p:spPr>
            <a:xfrm flipH="1" rot="10800000">
              <a:off x="7532280" y="195120"/>
              <a:ext cx="360" cy="33166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11"/>
            <p:cNvCxnSpPr/>
            <p:nvPr/>
          </p:nvCxnSpPr>
          <p:spPr>
            <a:xfrm flipH="1" rot="10800000">
              <a:off x="6359760" y="680760"/>
              <a:ext cx="2345400" cy="23454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11"/>
            <p:cNvCxnSpPr/>
            <p:nvPr/>
          </p:nvCxnSpPr>
          <p:spPr>
            <a:xfrm>
              <a:off x="6359760" y="680760"/>
              <a:ext cx="2345400" cy="23450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1"/>
            <p:cNvCxnSpPr/>
            <p:nvPr/>
          </p:nvCxnSpPr>
          <p:spPr>
            <a:xfrm flipH="1">
              <a:off x="5874120" y="1853280"/>
              <a:ext cx="3316680" cy="36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7" name="Google Shape;127;p11"/>
          <p:cNvCxnSpPr/>
          <p:nvPr/>
        </p:nvCxnSpPr>
        <p:spPr>
          <a:xfrm flipH="1" rot="10800000">
            <a:off x="5865480" y="-4680"/>
            <a:ext cx="360" cy="51969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1"/>
          <p:cNvCxnSpPr/>
          <p:nvPr/>
        </p:nvCxnSpPr>
        <p:spPr>
          <a:xfrm flipH="1">
            <a:off x="0" y="185328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inancial Assembly by Slidesgo">
  <a:themeElements>
    <a:clrScheme name="Simple Light">
      <a:dk1>
        <a:srgbClr val="FFFFFF"/>
      </a:dk1>
      <a:lt1>
        <a:srgbClr val="131313"/>
      </a:lt1>
      <a:dk2>
        <a:srgbClr val="666666"/>
      </a:dk2>
      <a:lt2>
        <a:srgbClr val="B7B7B7"/>
      </a:lt2>
      <a:accent1>
        <a:srgbClr val="EFEFE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